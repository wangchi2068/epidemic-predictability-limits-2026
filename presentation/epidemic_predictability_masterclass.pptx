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流行病传播动力学的可预测视界、</a:t>
            </a:r>
            <a:br/>
            <a:r>
              <a:t>极限机制与手把手公式推导</a:t>
            </a:r>
          </a:p>
          <a:p>
            <a:pPr>
              <a:spcAft>
                <a:spcPts val="2400"/>
              </a:spcAft>
              <a:defRPr sz="1600">
                <a:solidFill>
                  <a:srgbClr val="D4A017"/>
                </a:solidFill>
              </a:defRPr>
            </a:pPr>
            <a:r>
              <a:t>The Predictability Horizon of Epidemic Forecasts: Complete Mathematical Derivations &amp; Empirical Insights</a:t>
            </a:r>
          </a:p>
          <a:p>
            <a:pPr>
              <a:defRPr sz="1500" i="1">
                <a:solidFill>
                  <a:srgbClr val="C8E1FF"/>
                </a:solidFill>
              </a:defRPr>
            </a:pPr>
            <a:r>
              <a:t>核心立意：从第一性原理出发，手把手推导所有物理与统计边界，回答预报精度的理论天花板在哪里！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1. 现实痛点与问题提出：临界预报的失效悖论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Why do all operational models collapse near the epidemic threshold?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⚠️ 国际公卫预报的普遍困境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强超临界阶段：各类模型常能提前数周给出高质量预报。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接近传播阈值 (R ≈ 1) 与低发病期：所有模型精度断崖式崩溃！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RAPIDD 埃博拉挑战赛：没有任何先进模型能稳定胜过朴素基准（Naive Baseline）。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传统归因误区：学者普遍将其归咎于‘算法不够深’或‘数据漏报’，陷入盲目调参死循环。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💡 本文的第一性原理立意与科学问题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核心发问：预报精度的物理与统计天花板究竟在哪里？什么阶段在信息论上本质不可预测？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哲学转向：不再做‘算法优越性争论’，而是证明在理想生成机制下‘无偏估计量的理论极限’。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理论回答：近阈值失效不是算法不行，而是传播动力学固有的物理熵增与统计辨识下限！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业务价值：为 CDC 等预报平台提供‘事前预登记视界’与‘盲区科学等待’准则。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2. 第一性原理理论架构：五大定理全景拼图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A unified mechanistic and information-theoretic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📐 定理 1: 误差分解与闭式视界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相对均方误差严格正交分解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不可约人口地板 + 参数放大项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导出解析视界公式 h*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📉 定理 2: 单调性与有限视界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相对误差随前置时间单调递增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排除‘短期不准、远期变准’的幻想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确立视界 h* 的唯一物理边界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🌪️ 定理 3: 拟平稳相变与视界塌缩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临界相变窗口 |ε| ~ (R+1)/N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Fokker-Planck 扩散奇异解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CV ~ O(1) 导致 h* 结构性塌缩至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🎯 定理 4: Cramér-Rao 辨识极限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负二项似然 Fisher 信息矩阵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判别超临界态刚性样本量 C ≥ 231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功效校正需 1,432 例累计病例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🌊 定理 5 &amp; 5R: 时变漂移与 1/k 地板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增长率 AR(1) 漂移方差累积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宏观聚合发病数 1/k 对数方差地板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定量解释真实疫情方差标度指数 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🔬 机器学习与实证闭环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LightGBM 饱和理论地板 (6-44%)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神经网络无法逾越 Cramér-Rao 界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CDC 真实数据五项误差预算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3. 【板书手写推导 1】分支过程全代方差 Var(Z_h) 严格递推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Step 1: Branching process conditional expectation and law of total variance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🔢 步骤 1：条件均值与全方差定律递推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【基础设定】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初始感染人数 Z_0 = I_0。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后代分布服从负二项分布 NB(R, k)，单代方差：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σ^2 = R + R^2/k = R(1 + R/k)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【条件均值递推】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E[Z_h | Z_{h-1}] = R · Z_{h-1}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E[Z_h] = R · E[Z_{h-1}] = ... = I_0 R^h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【全方差定律 (Law of Total Variance)】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Var(Z_h) = E[Var(Z_h | Z_{h-1})] + Var(E[Z_h | Z_{h-1}])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第一项（条件方差期望）= E[Z_{h-1} · σ^2] = σ^2 I_0 R^{h-1}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第二项（条件均值方差）= Var(R · Z_{h-1}) = R^2 Var(Z_{h-1})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得到一阶线性递推式：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Var(Z_h) = σ^2 I_0 R^{h-1} + R^2 Var(Z_{h-1})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📐 步骤 2：套娃展开与等比数列闭式求和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【套娃逐步展开（Var(Z_0)=0）】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 = 1: Var(Z_1) = σ^2 I_0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 = 2: Var(Z_2) = σ^2 I_0 R + R^2 (σ^2 I_0) = σ^2 I_0 [R + R^2]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 = 3: Var(Z_3) = σ^2 I_0 R^2 + R^2 Var(Z_2) = σ^2 I_0 [R^2 + R^3 + R^4]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推广到通项 h 代：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Var(Z_h) = σ^2 I_0 [R^{h-1} + R^h + ... + R^{2h-2}]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Var(Z_h) = σ^2 I_0 R^{h-1} (1 + R + R^2 + ... + R^{h-1})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【等比求和与代入 σ^2】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等比求和：∑_{j=0}^{h-1} R^j = (R^h - 1) / (R - 1)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代入 σ^2 = R(1 + R/k)：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Var(Z_h) = I_0 R^h (1 + R/k) · (R^h - 1) / (R - 1)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【证毕】：给出了传播 h 代后发病数方差的 100% 精确闭式解！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4. 【板书手写推导 2】变异系数 CV^2 约简与不可约人口地板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Step 2: Coefficient of variation squared and asymptotic demographic floor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🔢 步骤 1：变异系数平方 CV^2 的化简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【定义】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相对方差（变异系数平方）：CV^2(Z_h) = Var(Z_h) / (E[Z_h])^2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【代入推导一的结果】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分子：Var(Z_h) = I_0 R^h (1 + R/k) (R^h - 1) / (R - 1)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分母：(E[Z_h])^2 = (I_0 R^h)^2 = I_0^2 R^{2h}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【分子分母大化简】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1. I_0 与 I_0^2 约掉，分母剩下 I_0；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2. R^{h-1} / R^{2h} = R^{-(h+1)} = R^{-h} / R；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3. (R^h - 1) · (R^{-h} / R) = (1 - R^{-h}) / R；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4. 分子前面的 R 与分母的 R 完美抵消！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【得到极其优美的解析式】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CV^2(Z_h) = (1 + R/k)(1 - R^{-h}) / [I_0 (R - 1)] 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🏢 步骤 2：极限分析与物理地板的诞生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【时间趋于无穷大时的极限】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在超临界暴发态 (R &gt; 1) 下，当预测前置时间 h ≥ 3~4 代：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R^{-h} = (1/R)^h -&gt; 0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因此 (1 - R^{-h}) -&gt; 1 趋于饱和常数！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导出不可约的【人口随机性物理地板 (Demographic Floor)】：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floor = lim_{h-&gt;∞} CV^2(Z_h) = (1 + R/k) / [I_0 (R - 1)]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【物理直觉深度剖析】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1. 分母 I_0：初始发病规模越大，大数定律起效，相对噪声越小；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2. 分母 (R-1)：脱离临界点越远，指数增长越快压制随机灭绝；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3. 分子 (1 + R/k)：超级传播越严重 (k 越小)，超扩散物理地板越高！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5. 【板书手写推导 3】参数不确定性放大与终极视界 h*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Step 3: Delta method linearization and closed-form predictability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📈 步骤 1：点估计前瞻预报的 Delta 展开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【前瞻点估计预报器】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预报模型：Î_h = I_0 R̂^h，其中 R̂ ~ N(R, δR^2)。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相对预报误差为：(Î_h - E[I_h]) / E[I_h] = (R̂/R)^h - 1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【对数变换与一阶泰勒展开（Delta 方法）】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设 R̂ = R + ΔR，其中 Var(ΔR) = δR^2：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log Î_h - log E[I_h] = h · log(1 + ΔR/R) ≈ h · (ΔR / R)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【计算参数误差方差 P(h)】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P(h) ≡ Var(log Î_h - log E[I_h]) ≈ Var(h · ΔR / R)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P(h) ≈ (h · δR / R)^2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物理意义：参数微小误差随前置步长 h 发生二次方剧烈发散！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🎯 步骤 2：正交分解与解出终极视界 h*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【建立总均方相对误差不等式】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总误差 relMSE^2(h) = floor + P(h) ≤ τ^2（目标精度容忍度）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(1 + R/k)/[I_0(R-1)] + (h · δR / R)^2  ≤  τ^2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【解一元二次不等式】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(h · δR / R)^2  ≤  τ^2 - floor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h_gen* ≤ (R / δR) · sqrt( τ^2 - (1+R/k)/[I_0(R-1)] 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【换算为日历时间（周或天）】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乘以平均代间隔 μ_g（将代数换算为日历时间）：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h* ≈ μ_g · (R / δR) · sqrt( τ^2 - (1+R/k)/[I_0(R-1)] )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若 floor ≥ τ^2，根号内为负，h* = 0（物理不可预测盲区）！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6. 【板书手写推导 4】临界 Fokker-Planck 扩散微分方程求解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Theorem 3(a): Solving the continuous quasi-stationary Fokker-Planck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🌊 步骤 1：生灭过程连续极限与 SDE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【生灭转移速率（种群规模 N，ε = R - 1）】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出生率 b(i) = R i (1 - i/N)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死亡率 d(i) = i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漂移项 μ(i) = b(i) - d(i) = i(ε - (R/N)i)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扩散项 σ^2(i) = b(i) + d(i) ≈ (R + 1)i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【Itô 随机微分方程 (SDE)】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dX = X(ε - (R/N)X) dt + sqrt((R+1)X) dW_t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【平稳 Fokker-Planck 方程（前向 Kolmogorov）】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0 = - d/dx [μ(x) π(x)] + 1/2 · d^2/dx^2 [σ^2(x) π(x)]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积分一次（无穷远处流为 0）：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1/2 · d/dx [(R+1)x π(x)] = x (ε - (R/N)x) π(x)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📐 步骤 2：分离变量求解 ODE 与奇异解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【变量代换与分离变量】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设辅助函数 u(x) = (R+1)x π(x) =&gt; π(x) = u(x) / [(R+1)x]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1/2 · du/dx = x(ε - (R/N)x) · u(x) / [(R+1)x]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1/u · du/dx = 2ε/(R+1) - 2R/[N(R+1)] · x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两边积分：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ln u(x) = 2ε/(R+1) x - R/[N(R+1)] x^2 + C_0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u(x) ∝ exp( c_1 x - c_2 x^2 ),  c_1 = 2ε/(R+1), c_2 = R/[N(R+1)]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【代回概率密度 π(x)】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★  π(x) ∝ x^{-1} exp( c_1 x - c_2 x^2 ),  x ∈ (x_min, ∞)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奇异性机理：x^{-1} 在原点不可积，导致 CV ~ O(1) 长尾大涨落，视界彻底塌缩（h* = 0）！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7. 【板书手写推导 5】单种子建群概率与三阶泰勒残项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Theorem 3(b): Establishment probability root and higher-order curvature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🌱 步骤 1：母函数不动点方程与二阶展开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【灭绝概率方程】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单种子灭绝概率 q 满足泊松不动点方程：q = e^{-R(1-q)}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建群概率 s = 1 - q 代入：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1 - s = e^{-Rs}  =&gt;  ★  s = 1 - e^{-Rs}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【在临界点 R = 1 + ε 附近展开到三阶】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e^{-Rs} = 1 - Rs + (R^2 s^2)/2 - (R^3 s^3)/6 + O(s^4)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s = 1 - [1 - Rs + (R^2 s^2)/2 - (R^3 s^3)/6]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s = Rs - (R^2 s^2)/2 + (R^3 s^3)/6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两边除以 s (s &gt; 0)：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1 = R - (R^2 s)/2 + (R^3 s^2)/6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移项：(R^2 s)/2 = (R - 1) + (R^3 s^2)/6 = ε + (R^3 s^2)/6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🔬 步骤 2：为什么扩散解 2ε/R 比二阶展开更准？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【正三阶残项的物理启示】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注意到残项 +(R^3 s^2)/6 &gt; 0 是正数！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若直接截断忽略三阶项，得到经典代数展开：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s_Taylor ≈ 2ε / R^2  （必然系统性低估真实建群概率！）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【扩散理论解的优雅补偿】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扩散近似给出：s_diffusion ≈ 2ε / R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此时分母少乘了一个 R，刚好在有限 ε 下补偿了正曲率！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【实测数值精度验证 (R=1.1, ε=0.1)】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精确数值根：s_Exact = 0.1761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扩散近似解：s_diff = 2(0.1)/1.1 = 0.1818（比值 1.032，仅偏 3.2%）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代数展开解：s_Tay = 2(0.1)/1.21 = 0.1653（比值 0.938，误差 6.2%）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8. 【板书手写推导 6】负二项似然 Fisher 信息与辨识界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Theorem 4: Fisher Information matrix and Cramér-Rao lower bound on sample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📐 步骤 1：对数似然与 Fisher 信息量推导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【负二项对数似然函数（累计发病数 C = ∑ I_t）】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log L(R) = (∑ I_t) ln R - ∑(I_t + k I_{t-1}) ln(R + k)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【求一阶导数（Score）与二阶导数（Hessian）】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∂ log L / ∂R = (∑ I_t)/R - ∑(I_t + k I_{t-1}) / (R + k)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∂^2 log L / ∂R^2 = - (∑ I_t)/R^2 + ∑(I_t + k I_{t-1}) / (R + k)^2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【计算二阶导的负数学期望】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利用平稳期望 E[∑(I_t + k I_{t-1})] = C(1 + k/R) = C(R+k)/R：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I(R) = - E[∂^2 log L / ∂R^2] = C/R^2 - [C(R+k)/R] / (R+k)^2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I(R) = C/R^2 - C/[R(R+k)] = C(R+k - R) / [R^2(R+k)]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I(R) = C · k / [R(R + k)] 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🎯 步骤 2：Cramér-Rao 样本量下界与功效校正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【Cramér-Rao 方差下界】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Var(R̂) ≥ 1 / I(R) = R^2(R + k) / (C k) = R^2(1/R + 1/k) / C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【判别超临界暴发（分辨符号 sgn(R-1)）的刚性样本量】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要求估计方差 Var(R̂) ≤ ε^2，解出累计病例下限：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C ≥ R^2 (1/R + 1/k) / ε^2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【单次假设检验功效校正（α=0.05, 1-β=0.8）】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乘子 (z_α + z_β)^2 = (1.645 + 0.842)^2 ≈ 6.2：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★  C_operational ≳ 6.2 · R^2 (1/R + 1/k) / ε^2  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【经典实算 (R=1.1, k=1.0, ε=0.1)】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严格方差下限：1.21 × 1.909 / 0.01 = 231 例；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功效校正门槛：231 × 6.2 ≈ 1,432 例累计病例！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9. 定理 5 &amp; 5R：时变漂移与宏观 1/k 对数方差地板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Persistent drift, scale-invariant variance floor, and empirical scaling exponents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🏢 宏观发病数的 1/k 方差地板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种群级负二项更新噪声：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当 μ ≫ k 时，二阶矩推导给出：CV^2 ≈ 1/k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对数方差绝对地板（独立于暴发规模 I_0！）：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Var(log Î_h) ~ h / k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物理意义：超扩散传播（小 k）对宏观粗粒度预报构成了硬性方差约束，即使疫情规模 I_0 -&gt; ∞，该噪声也永不消失！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与个体级地板的区别：个体级地板 ~ I_0^{-1}（随暴发累积而衰减）；种群级地板 ~ 1/k（尺度无关，持久存在）。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🌊 AR(1) 增长率漂移与幂律标度 p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增长率 AR(1) 过程：r_t = μ + φ(r_{t-1} - μ) + η_t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 步无条件方差累积：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Var(∑ r_{t+j}) ~ γ_0 h (1+φ)/(1-φ)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随机游走极限（φ -&gt; 1）：方差呈 h^3 / 3 爆发式增长！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真实疫情方差幂律标度指数 Var ~ h^p 的实测吻合：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- COVID-19: p = 1.13 ± 0.12 (强自相关持久性，φ ≈ 0.9)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- 季节性流感: p = 1.00 ± 0.08 (标准线性累积，p ≈ 1)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- RSV 2024-25: p = 0.48 ± 0.15 (平滑亚线性累积)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10. 机器学习极限基准：AI 能否击穿第一性原理理论界？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Can modern machine learning and neural estimators surpass analytical bounds?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🌲 ML-2: LightGBM 饱和理论地板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实验设计：在已知分支过程生成分布上训练 LightGBM 梯度提升树，测试 200 条独立疫情在 8 个前置步长上的表现。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实验结果：LightGBM 预测误差运行于理论对数标准差地板之上 6% ~ 44%！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从未低于理论地板：证明了理论下界不是松散的数学玩具，而是自适应非线性模型可以无限逼近并饱和的紧致物理下限！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🧠 ML-1: 神经网络无法跨越 CRLB 界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实验设计：构建 40,000 条轨迹深度神经网络（MLP）从充分统计量直接估计 (R, k)。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实验结果：两两配对检验 p = 1.0，神经网络完全无法超越经典最大似然估计（MLE）！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视界比差距：神经网络在极端超扩散尾部（k &lt; 0.5）产生系统偏差，视界指标落后 MLE 约 5.4 倍！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理论印证：似然理论在正确模型设定下的最优性（无偏渐近最有效），AI 无法违背信息论定律。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11. 真实数据五项误差预算：预报偏差究竟来自哪里？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Five-component empirical error budget decomposition on CDC surveillance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📊 表 2 全景五项实测分解（逐行代数和 100.0% 严格闭合）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1. COVID-19 实测分解（前瞻步进预测）：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• h = 1 周: 人口地板 9.7% + R漂移 7.6% + 参数误差 0.5% + 交叉项 -0.6% + 未解释残差 82.8% [80.5%, 85.1%]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• h = 4 周: 人口地板 9.0% + R漂移 7.0% + 参数误差 0.8% + 交叉项 -0.8% + 未解释残差 84.0% [81.6%, 86.4%]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• h = 8 周: 未解释残差高达 86.0% [83.2%, 88.8%]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2. 季节性流感实测分解：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• h = 1 周: 人口地板 12.4% + R漂移 10.2% + 参数误差 1.1% + 交叉项 -0.4% + 未解释残差 76.7% [73.8%, 79.5%]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3. RSV 2024-25 实测分解：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• h = 2 周: 人口随机性地板占 28.5%（发病规模小、离散度高阶段人口随机性硬性凸显！），未解释残差 63.2%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💡 颠覆性归因发现：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在短视界（h=1,2）下，恒定 R 分支模型族的失败主要源于外生环境突变与模型结构误配（如干预响应、未建模报告延迟），而非单纯参数估计不足！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12. 预报中心的业务革命：从‘盲目发布’到‘科学等待’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Pre-registered baseline, blind zone flagging, and targeted surveillance resource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📌 准则一：事前预登记基准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视界 h* 为预报任务确立了客观物理基准（Pre-registered Baseline）。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在 h &gt; h* 的前置时间尺度上，数据在物理上已无足够有效信息。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精度下降属于熵增物理必然，避免对不可抗拒的过程噪声过度调参。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🛑 准则二：盲区主动预警等待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在近临界过渡区（|R-1| ≲ (R+1)/N），点预报失去统计有效性。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预报平台应主动引入‘不可预报阶段标记’（Blind Zone Flag）。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向决策部门传递明确的‘科学等待’信号，维护公卫预警的公信力。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🎯 准则三：监测资源精准投放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参数项 P(h) 主导时：扩大测序、提升抽样率可压缩 δR，线性拓宽 h*。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人口地板主导时：单纯加密采样无济于事，必须等待发病累积或 R 脱离临界区。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实现公卫监测经费的精准高效调度。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240"/>
                </a:solidFill>
              </a:defRPr>
            </a:pPr>
            <a:r>
              <a:t>13. 论文终审总结与学术价值</a:t>
            </a:r>
          </a:p>
          <a:p>
            <a:pPr>
              <a:defRPr sz="1200" b="0">
                <a:solidFill>
                  <a:srgbClr val="008080"/>
                </a:solidFill>
              </a:defRPr>
            </a:pPr>
            <a:r>
              <a:t>Summary of theoretical, empirical, and operational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500" b="1">
                <a:solidFill>
                  <a:srgbClr val="0F2240"/>
                </a:solidFill>
              </a:defRPr>
            </a:pPr>
            <a:r>
              <a:t>🌟 跨越理论物理、统计推断与公共卫生的完整闭环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1. 理论物理深度：从负二项分支过程与 Fokker-Planck 扩散第一性原理出发，推导了误差正交分解、闭式视界公式 h*、拟平稳相变窗口、Cramér-Rao 辨识界与宏观 1/k 方差地板。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2. 统计推断严谨：高通量随机模拟（T1-T5R）证明理论边界紧致无偏；确立超临界判别所需 1,432 例累计发病数的刚性样本量门槛。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3. 计算实验攻击：LightGBM 饱和理论地板验证了可达性；神经网络无法超越 MLE 验证了无偏似然界的最优性。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4. 实证实测归因：全景五项完全误差预算厘清了 CDC 实测疫情中外生环境误设在短期预报中的主导地位（82.8%）。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5. 业务范式重构：终结了‘近阈值预报失效归咎于算法’的迷思，推动预报中心建立‘事前预登记视界’与‘盲区科学等待’新范式。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